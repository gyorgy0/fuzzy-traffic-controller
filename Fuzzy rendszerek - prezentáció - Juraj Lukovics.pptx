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hu-H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6" d="100"/>
          <a:sy n="76" d="100"/>
        </p:scale>
        <p:origin x="90" y="798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2613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47441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16056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99751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7950724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915130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650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0853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192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4BD1C-9185-BBA1-A6D5-CFB683B61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770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379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644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D00076-214A-08EC-7F4F-2E75F3B3B7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12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71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43DE1-F5DE-14B7-D0F2-519E3473DC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009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4031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219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297C76-99BC-EFEA-6712-CB67E117A0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15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867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908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26C02F-A4E6-AEBD-B1C5-1B45C72DA9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13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575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83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35A54-B3D8-A949-BFA9-4A75432C54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806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833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0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25554C-FBB9-732C-7812-4F6C6F82C8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532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752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71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DBC8E9-7A13-781C-DF2D-50DE512C53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986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3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240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1AB74C-0CCD-6F88-F3B7-DA94ED3C2B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355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6876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415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D2CABC-3632-578F-ED16-F287C9FDFB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874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206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237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547C98-64CD-474C-2AA9-B1F350F94B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7095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296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520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97163-EFB7-ADBF-7869-FF65BE1385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09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947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336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AD13D5-8F08-664A-FA24-4FFFE03477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588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2127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18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FCBAC4-5C9E-D043-7D96-B840F29458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351468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143236934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415433120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88013659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79101086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07203547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753437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7924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578513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389701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195577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4745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028774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349482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94270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9111106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345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66554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275364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40560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191367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93319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880697876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5019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618213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514869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468464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626408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8988048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38478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225123326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9585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319799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9253704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4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8500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57843716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3869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948489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2243189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20396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4136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798933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2679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99834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961379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503999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216791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049820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4483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0729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58272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81745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5059313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0383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5552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878536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040263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6273888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6971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787783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27424813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3356428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7230377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76786571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49846441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95348016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32161581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5453609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54775912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5074602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525381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07257626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62646260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44502339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87117465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30054468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87317676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34317245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94899389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68846979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1599816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24483717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70114284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58750565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2737652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8636449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60053424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61870095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41105295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2777106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490255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734524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2005722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253474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452754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454040" name="Cím 1"/>
          <p:cNvSpPr>
            <a:spLocks noGrp="1"/>
          </p:cNvSpPr>
          <p:nvPr>
            <p:ph type="ctrTitle"/>
          </p:nvPr>
        </p:nvSpPr>
        <p:spPr bwMode="auto">
          <a:xfrm flipH="0" flipV="0">
            <a:off x="623395" y="2217295"/>
            <a:ext cx="7383251" cy="249836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r">
              <a:defRPr/>
            </a:pPr>
            <a:r>
              <a:rPr lang="sk-SK" sz="4400" b="1" i="0" u="none" strike="noStrike" cap="none" spc="0">
                <a:solidFill>
                  <a:schemeClr val="accent6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FUZZY LOGIKA ALKALMAZÁSA FORGALMI JELZŐLÁMPÁK IRÁNYÍTÁSÁRA</a:t>
            </a:r>
            <a:endParaRPr lang="hu-HU"/>
          </a:p>
        </p:txBody>
      </p:sp>
      <p:sp>
        <p:nvSpPr>
          <p:cNvPr id="1520907202" name="Alcím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-21860" y="5839917"/>
            <a:ext cx="4864032" cy="1026201"/>
          </a:xfrm>
        </p:spPr>
        <p:txBody>
          <a:bodyPr/>
          <a:lstStyle/>
          <a:p>
            <a:pPr marL="0" indent="0" algn="l">
              <a:buFont typeface="Arial"/>
              <a:buNone/>
              <a:defRPr/>
            </a:pPr>
            <a:r>
              <a:rPr lang="sk-SK">
                <a:solidFill>
                  <a:schemeClr val="tx1"/>
                </a:solidFill>
              </a:rPr>
              <a:t>Bc. Juraj Lukovics</a:t>
            </a:r>
            <a:br>
              <a:rPr lang="sk-SK">
                <a:solidFill>
                  <a:schemeClr val="tx1"/>
                </a:solidFill>
              </a:rPr>
            </a:br>
            <a:r>
              <a:rPr lang="sk-SK">
                <a:solidFill>
                  <a:schemeClr val="tx1"/>
                </a:solidFill>
              </a:rPr>
              <a:t>2025, Komárno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0191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Forgalomirányítás kihívásai</a:t>
            </a:r>
            <a:endParaRPr/>
          </a:p>
        </p:txBody>
      </p:sp>
      <p:sp>
        <p:nvSpPr>
          <p:cNvPr id="2732804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Közúti közlekedésben évről évre többen vesznek részt</a:t>
            </a:r>
            <a:endParaRPr lang="sk-SK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Fontos a megbízható és gyors irányítástechnika, mivel emberéletek múlhatnak rajta</a:t>
            </a:r>
            <a:endParaRPr lang="sk-SK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Fontos az utazási idő lecsökkentése -&gt; kevesebb dugó -&gt; kevesebb szmog -&gt; élhetőbb városrészek</a:t>
            </a:r>
            <a:endParaRPr lang="sk-SK"/>
          </a:p>
          <a:p>
            <a:pPr>
              <a:buFont typeface="Arial"/>
              <a:buChar char="–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1104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Munka motivációja</a:t>
            </a:r>
            <a:endParaRPr/>
          </a:p>
        </p:txBody>
      </p:sp>
      <p:sp>
        <p:nvSpPr>
          <p:cNvPr id="72159048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Egy kereszteződés lemodellezése Simulink-ben a SimEvents blokkjainak a segítségével</a:t>
            </a:r>
            <a:endParaRPr lang="sk-SK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Ennek a kereszteződésnek a vezérlése fuzzy logika segítségével</a:t>
            </a:r>
            <a:endParaRPr lang="sk-SK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sk-SK"/>
              <a:t>Fuzzy logikával vezérelt, illetve hagyományos időosztásos módszerrel vezérelt kereszteződés összehasonlítása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825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Járművek szimulálása</a:t>
            </a:r>
            <a:endParaRPr/>
          </a:p>
        </p:txBody>
      </p:sp>
      <p:sp>
        <p:nvSpPr>
          <p:cNvPr id="97119556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A közlekedésben több járműfajta van és ezek rendelkeznek egy bizonyos gyakorisággal</a:t>
            </a:r>
            <a:endParaRPr lang="sk-SK"/>
          </a:p>
          <a:p>
            <a:pPr>
              <a:buFont typeface="Arial"/>
              <a:buChar char="–"/>
              <a:defRPr/>
            </a:pPr>
            <a:r>
              <a:rPr lang="sk-SK"/>
              <a:t>Más-más intergenerációs idő</a:t>
            </a:r>
            <a:endParaRPr lang="sk-SK"/>
          </a:p>
          <a:p>
            <a:pPr marL="0" indent="0">
              <a:buFont typeface="Arial"/>
              <a:buNone/>
              <a:defRPr/>
            </a:pPr>
            <a:endParaRPr lang="sk-SK"/>
          </a:p>
        </p:txBody>
      </p:sp>
      <p:pic>
        <p:nvPicPr>
          <p:cNvPr id="16942102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2991" y="3563941"/>
            <a:ext cx="3671065" cy="2562224"/>
          </a:xfrm>
          <a:prstGeom prst="rect">
            <a:avLst/>
          </a:prstGeom>
        </p:spPr>
      </p:pic>
      <p:pic>
        <p:nvPicPr>
          <p:cNvPr id="16163563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262827" y="3863185"/>
            <a:ext cx="3483688" cy="2133599"/>
          </a:xfrm>
          <a:prstGeom prst="rect">
            <a:avLst/>
          </a:prstGeom>
        </p:spPr>
      </p:pic>
      <p:pic>
        <p:nvPicPr>
          <p:cNvPr id="42550881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24262" y="3739360"/>
            <a:ext cx="3889129" cy="2381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5293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Kereszteződéshez érkezés szimulálása</a:t>
            </a:r>
            <a:endParaRPr/>
          </a:p>
        </p:txBody>
      </p:sp>
      <p:sp>
        <p:nvSpPr>
          <p:cNvPr id="96286210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A járművek sorban állnak, az utak kapacitását a RoadCapacity1, </a:t>
            </a:r>
            <a:r>
              <a:rPr lang="sk-SK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RoadCapacity2, </a:t>
            </a:r>
            <a:r>
              <a:rPr lang="sk-SK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RoadCapacity3, </a:t>
            </a:r>
            <a:r>
              <a:rPr lang="sk-SK" sz="3200" b="0" i="0" u="none" strike="noStrike" cap="none" spc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RoadCapacity4</a:t>
            </a:r>
            <a:r>
              <a:rPr lang="sk-SK"/>
              <a:t> változók jelölik</a:t>
            </a:r>
            <a:endParaRPr lang="sk-SK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5985554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3201023" y="3296168"/>
            <a:ext cx="5622910" cy="3407580"/>
          </a:xfrm>
          <a:prstGeom prst="rect">
            <a:avLst/>
          </a:prstGeom>
          <a:noFill/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860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Kereszteződés szerkezete</a:t>
            </a:r>
            <a:endParaRPr/>
          </a:p>
        </p:txBody>
      </p:sp>
      <p:sp>
        <p:nvSpPr>
          <p:cNvPr id="5322934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Forgalmi lámpák – ezek engedik vagy tartják fent a járműveket</a:t>
            </a:r>
            <a:endParaRPr lang="sk-SK"/>
          </a:p>
          <a:p>
            <a:pPr>
              <a:buFont typeface="Arial"/>
              <a:buChar char="–"/>
              <a:defRPr/>
            </a:pPr>
            <a:r>
              <a:rPr lang="sk-SK"/>
              <a:t>Kereszteződés közepe – itt egyszerre csak 2 autó lehet ebben a modelben</a:t>
            </a:r>
            <a:endParaRPr/>
          </a:p>
        </p:txBody>
      </p:sp>
      <p:pic>
        <p:nvPicPr>
          <p:cNvPr id="18414425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095999" y="3203873"/>
            <a:ext cx="3418954" cy="3334187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5371065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82930" y="3863183"/>
            <a:ext cx="2218893" cy="2218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8288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Kereszteződés</a:t>
            </a:r>
            <a:endParaRPr/>
          </a:p>
        </p:txBody>
      </p:sp>
      <p:sp>
        <p:nvSpPr>
          <p:cNvPr id="978895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4 bejárat 4 forgalmi lámpa</a:t>
            </a:r>
            <a:endParaRPr lang="sk-SK"/>
          </a:p>
          <a:p>
            <a:pPr>
              <a:buFont typeface="Arial"/>
              <a:buChar char="–"/>
              <a:defRPr/>
            </a:pPr>
            <a:r>
              <a:rPr lang="sk-SK"/>
              <a:t>Egyszerre 2 forgalmi</a:t>
            </a:r>
            <a:br>
              <a:rPr lang="sk-SK"/>
            </a:br>
            <a:r>
              <a:rPr lang="sk-SK"/>
              <a:t>lámpát irányítunk</a:t>
            </a:r>
            <a:endParaRPr/>
          </a:p>
          <a:p>
            <a:pPr>
              <a:buFont typeface="Arial"/>
              <a:buChar char="–"/>
              <a:defRPr/>
            </a:pPr>
            <a:r>
              <a:rPr lang="sk-SK"/>
              <a:t>A keresztezés közepén</a:t>
            </a:r>
            <a:br>
              <a:rPr lang="sk-SK"/>
            </a:br>
            <a:r>
              <a:rPr lang="sk-SK"/>
              <a:t>minden jármű más-más</a:t>
            </a:r>
            <a:br>
              <a:rPr lang="sk-SK"/>
            </a:br>
            <a:r>
              <a:rPr lang="sk-SK"/>
              <a:t>időt tölt el</a:t>
            </a:r>
            <a:endParaRPr lang="sk-SK"/>
          </a:p>
        </p:txBody>
      </p:sp>
      <p:pic>
        <p:nvPicPr>
          <p:cNvPr id="5899984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6544497" y="1600203"/>
            <a:ext cx="4655165" cy="448126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15300851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87828" y="4603749"/>
            <a:ext cx="4081499" cy="2101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1328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Fuzzy logika</a:t>
            </a:r>
            <a:r>
              <a:rPr lang="sk-SK"/>
              <a:t> I.</a:t>
            </a:r>
            <a:endParaRPr/>
          </a:p>
        </p:txBody>
      </p:sp>
      <p:sp>
        <p:nvSpPr>
          <p:cNvPr id="17213495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2 bemenet: forgalmi sorhossz, átlagos várakozási idő</a:t>
            </a:r>
            <a:endParaRPr/>
          </a:p>
        </p:txBody>
      </p:sp>
      <p:pic>
        <p:nvPicPr>
          <p:cNvPr id="7788269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99253" y="2215268"/>
            <a:ext cx="4110749" cy="3910897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84505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7236657" y="2215268"/>
            <a:ext cx="4139929" cy="3910897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709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Fuzzy logika II.</a:t>
            </a:r>
            <a:endParaRPr/>
          </a:p>
        </p:txBody>
      </p:sp>
      <p:sp>
        <p:nvSpPr>
          <p:cNvPr id="140460539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Egy kimenet -&gt; ez </a:t>
            </a:r>
            <a:br>
              <a:rPr lang="sk-SK"/>
            </a:br>
            <a:r>
              <a:rPr lang="sk-SK"/>
              <a:t>jelenti az adott </a:t>
            </a:r>
            <a:br>
              <a:rPr lang="sk-SK"/>
            </a:br>
            <a:r>
              <a:rPr lang="sk-SK"/>
              <a:t>forgalmi lámpacsoport</a:t>
            </a:r>
            <a:br>
              <a:rPr lang="sk-SK"/>
            </a:br>
            <a:r>
              <a:rPr lang="sk-SK"/>
              <a:t>erősségét (ha erősebb</a:t>
            </a:r>
            <a:br>
              <a:rPr lang="sk-SK"/>
            </a:br>
            <a:r>
              <a:rPr lang="sk-SK"/>
              <a:t>a másik csoportnál, </a:t>
            </a:r>
            <a:br>
              <a:rPr lang="sk-SK"/>
            </a:br>
            <a:r>
              <a:rPr lang="sk-SK"/>
              <a:t>akkor átváltanak </a:t>
            </a:r>
            <a:br>
              <a:rPr lang="sk-SK"/>
            </a:br>
            <a:r>
              <a:rPr lang="sk-SK"/>
              <a:t>zöldra)</a:t>
            </a:r>
            <a:endParaRPr lang="sk-SK"/>
          </a:p>
        </p:txBody>
      </p:sp>
      <p:pic>
        <p:nvPicPr>
          <p:cNvPr id="11121273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5941271" y="1290832"/>
            <a:ext cx="5435314" cy="51447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46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Fuzzy logika III.</a:t>
            </a:r>
            <a:endParaRPr/>
          </a:p>
        </p:txBody>
      </p:sp>
      <p:sp>
        <p:nvSpPr>
          <p:cNvPr id="19109760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buFont typeface="Arial"/>
              <a:buChar char="–"/>
              <a:defRPr/>
            </a:pPr>
            <a:r>
              <a:rPr lang="sk-SK"/>
              <a:t>9 db szabály</a:t>
            </a:r>
            <a:endParaRPr lang="sk-SK"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87695719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79834" y="2135757"/>
            <a:ext cx="8804745" cy="3990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2869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Forgalom irányítása</a:t>
            </a:r>
            <a:r>
              <a:rPr lang="sk-SK"/>
              <a:t> fuzzy logikával</a:t>
            </a:r>
            <a:endParaRPr/>
          </a:p>
        </p:txBody>
      </p:sp>
      <p:sp>
        <p:nvSpPr>
          <p:cNvPr id="5980425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sk-SK"/>
              <a:t> </a:t>
            </a:r>
            <a:endParaRPr/>
          </a:p>
        </p:txBody>
      </p:sp>
      <p:pic>
        <p:nvPicPr>
          <p:cNvPr id="11791940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95882" y="1286671"/>
            <a:ext cx="9772649" cy="5153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46948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sk-SK"/>
              <a:t>Forgalom irányítása időosztásos módszerre (10s - 10s)</a:t>
            </a:r>
            <a:endParaRPr/>
          </a:p>
        </p:txBody>
      </p:sp>
      <p:sp>
        <p:nvSpPr>
          <p:cNvPr id="4478749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sk-SK"/>
              <a:t> </a:t>
            </a:r>
            <a:endParaRPr/>
          </a:p>
        </p:txBody>
      </p:sp>
      <p:pic>
        <p:nvPicPr>
          <p:cNvPr id="11639558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14437" y="1524874"/>
            <a:ext cx="97631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7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k-SK"/>
              <a:t>Összehasonlítás</a:t>
            </a:r>
            <a:endParaRPr/>
          </a:p>
        </p:txBody>
      </p:sp>
      <p:sp>
        <p:nvSpPr>
          <p:cNvPr id="821555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sk-SK"/>
              <a:t> </a:t>
            </a:r>
            <a:endParaRPr/>
          </a:p>
        </p:txBody>
      </p:sp>
      <p:graphicFrame>
        <p:nvGraphicFramePr>
          <p:cNvPr id="1708289144" name=""/>
          <p:cNvGraphicFramePr>
            <a:graphicFrameLocks xmlns:a="http://schemas.openxmlformats.org/drawingml/2006/main"/>
          </p:cNvGraphicFramePr>
          <p:nvPr/>
        </p:nvGraphicFramePr>
        <p:xfrm rot="0">
          <a:off x="787828" y="1642463"/>
          <a:ext cx="8408275" cy="107687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15211"/>
                <a:gridCol w="2115211"/>
                <a:gridCol w="2115211"/>
                <a:gridCol w="2115211"/>
                <a:gridCol w="2115211"/>
              </a:tblGrid>
              <a:tr h="970616">
                <a:tc>
                  <a:txBody>
                    <a:bodyPr/>
                    <a:p>
                      <a:pPr>
                        <a:defRPr/>
                      </a:pP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Fuzzy 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Időosztásos (10s - 10s)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Eltérés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Százalékos eltérés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</a:tr>
              <a:tr h="710013"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Rövidtáv (100s)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164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4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~2,44%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</a:tr>
              <a:tr h="683420"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Középtáv (500s)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851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846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5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~0,59%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</a:tr>
              <a:tr h="970616">
                <a:tc>
                  <a:txBody>
                    <a:bodyPr/>
                    <a:p>
                      <a:pPr>
                        <a:defRPr/>
                      </a:pPr>
                      <a:r>
                        <a:rPr lang="hu-HU">
                          <a:solidFill>
                            <a:schemeClr val="tx1"/>
                          </a:solidFill>
                        </a:rPr>
                        <a:t>Hosszútáv (900s)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1563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1557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6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sk-SK">
                          <a:solidFill>
                            <a:schemeClr val="tx1"/>
                          </a:solidFill>
                        </a:rPr>
                        <a:t>~0,39%</a:t>
                      </a:r>
                      <a:endParaRPr lang="hu-HU">
                        <a:solidFill>
                          <a:schemeClr val="tx1"/>
                        </a:solidFill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14691" name="Title 1"/>
          <p:cNvSpPr>
            <a:spLocks noGrp="1"/>
          </p:cNvSpPr>
          <p:nvPr>
            <p:ph type="title"/>
          </p:nvPr>
        </p:nvSpPr>
        <p:spPr bwMode="auto">
          <a:xfrm>
            <a:off x="787829" y="2914424"/>
            <a:ext cx="10588757" cy="1143000"/>
          </a:xfrm>
        </p:spPr>
        <p:txBody>
          <a:bodyPr/>
          <a:lstStyle/>
          <a:p>
            <a:pPr>
              <a:defRPr/>
            </a:pPr>
            <a:r>
              <a:rPr lang="sk-SK"/>
              <a:t>Köszönöm a figyelmet!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modified xsi:type="dcterms:W3CDTF">2025-12-09T13:10:45Z</dcterms:modified>
</cp:coreProperties>
</file>